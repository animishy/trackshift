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7F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5F7FA"/>
                </a:solidFill>
                <a:latin typeface="Calibri"/>
              </a:rPr>
              <a:t>Live weekend posterior &amp; race forecast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mean</c:v>
                </c:pt>
              </c:strCache>
            </c:strRef>
          </c:tx>
          <c:spPr>
            <a:solidFill>
              <a:srgbClr val="FF4B4B"/>
            </a:solidFill>
            <a:ln w="38100" cap="flat">
              <a:solidFill>
                <a:srgbClr val="FF4B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4B4B"/>
              </a:solidFill>
              <a:ln w="9525" cap="flat">
                <a:solidFill>
                  <a:srgbClr val="FF4B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5</c:v>
                  </c:pt>
                  <c:pt idx="2">
                    <c:v>9</c:v>
                  </c:pt>
                  <c:pt idx="3">
                    <c:v>13</c:v>
                  </c:pt>
                  <c:pt idx="4">
                    <c:v>17</c:v>
                  </c:pt>
                  <c:pt idx="5">
                    <c:v>21</c:v>
                  </c:pt>
                  <c:pt idx="6">
                    <c:v>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0.05</c:v>
                </c:pt>
                <c:pt idx="1">
                  <c:v>0.18</c:v>
                </c:pt>
                <c:pt idx="2">
                  <c:v>0.32</c:v>
                </c:pt>
                <c:pt idx="3">
                  <c:v>0.55</c:v>
                </c:pt>
                <c:pt idx="4">
                  <c:v>0.95</c:v>
                </c:pt>
                <c:pt idx="5">
                  <c:v>1.55</c:v>
                </c:pt>
                <c:pt idx="6">
                  <c:v>2.3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313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4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0"/>
        </c:scaling>
        <c:delete val="0"/>
        <c:axPos val="l"/>
        <c:majorGridlines>
          <c:spPr>
            <a:ln w="9525" cap="flat">
              <a:solidFill>
                <a:srgbClr val="2A313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AA4B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AA4B2"/>
                    </a:solidFill>
                    <a:latin typeface="Arial"/>
                  </a:rPr>
                  <a:t>Pace loss (s)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313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4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</c:chart>
  <c:spPr>
    <a:solidFill>
      <a:srgbClr val="0E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Deeper detail if asked:
- Prior fitting: robust MEDIAN slope across historical stints (not mean, so outlier stints don't skew it), plus MAD (median absolute deviation x 1.4826) sets observation noise.
- Weekly update: prior_weight_i *= (1 + learning_rate * (evidence_i - 1)), renormalized so total weight stays fixed -- prevents overfitting to a handful of FP1 laps.
- Farroni et al.'s TRICK tyre/road thermal-and-wear work is a relevant secondary reference for the thermal/wear layer -- track down the exact edition/DOI before citing it in a formal paper; don't present the secondary summary as if it were the primary source.
- Joseph-form covariance update is used specifically because it's numerically robust and guarantees the covariance stays positive semi-definite, which a naive update doesn't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pushed on Pirelli sourcing: this is Pirelli's own numeric 1-5 engineering classification for traction/grip/abrasion/evolution/stress/braking/lateral, the same data given to every team pre-weekend, not the colorful fan-facing compound-selection graphic. Track down the specific Pirelli pre-race technical/media page the numbers were sourced from before an external submission, and cite that primary page directly.
If pushed on FastF1 trust: 'unofficial' describes licensing status, not data quality -- FastF1 pulls from livetiming.formula1.com, the real F1 live-timing feed, and its own docs call lap/sector times 'absolute truth'. What it does NOT give us is private team CAN-bus data (tyre pressure, carcass temp, suspension load) -- that gap is exactly what the virtual sensor layer exists to approximate.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leftover files (ultimate_neural_f1_degradation.parquet, bayesian_deg_model.ipynb): be upfront -- we explored other approaches (ensemble/neural) before pivoting to the Kalman filter, specifically because a state-space model is more interpretable and auditable for a pit-wall decision tool. Don't get caught contradicting this if a mentor has browsed the repo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AppData\Local\Temp\claude\C--Users-Administrator-trackshift\536c779f-8f88-4b6c-b773-cf88616f0929\scratchpad\ppt\icons\tyre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7955280" y="118872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502920" cy="50292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4" name="Image 1" descr="C:\Users\Administrator\AppData\Local\Temp\claude\C--Users-Administrator-trackshift\536c779f-8f88-4b6c-b773-cf88616f0929\scratchpad\ppt\icons\r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669341"/>
            <a:ext cx="261518" cy="26151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32588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TrackShift</a:t>
            </a:r>
            <a:endParaRPr lang="en-US" sz="6000" dirty="0"/>
          </a:p>
        </p:txBody>
      </p:sp>
      <p:sp>
        <p:nvSpPr>
          <p:cNvPr id="7" name="Text 3"/>
          <p:cNvSpPr txBox="1"/>
          <p:nvPr/>
        </p:nvSpPr>
        <p:spPr>
          <a:xfrm>
            <a:off x="621792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Curve Fitting: Probabilistic Tyre Intelligence for F1 Strategy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621792" y="4663440"/>
            <a:ext cx="2415845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9" name="Image 2" descr="C:\Users\Administrator\AppData\Local\Temp\claude\C--Users-Administrator-trackshift\536c779f-8f88-4b6c-b773-cf88616f0929\scratchpad\ppt\icons\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791456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24712" y="4663440"/>
            <a:ext cx="18672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FastF1 telemetry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3238805" y="4663440"/>
            <a:ext cx="2190902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2" name="Image 3" descr="C:\Users\Administrator\AppData\Local\Temp\claude\C--Users-Administrator-trackshift\536c779f-8f88-4b6c-b773-cf88616f0929\scratchpad\ppt\icons\calcula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397" y="479145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741725" y="4663440"/>
            <a:ext cx="16422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Kalman-filter core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5630875" y="4663440"/>
            <a:ext cx="2565806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5" name="Image 4" descr="C:\Users\Administrator\AppData\Local\Temp\claude\C--Users-Administrator-trackshift\536c779f-8f88-4b6c-b773-cf88616f0929\scratchpad\ppt\icons\chart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467" y="4791456"/>
            <a:ext cx="256032" cy="2560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133795" y="4663440"/>
            <a:ext cx="201716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pit-wall dashboard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621792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risk-aware pit-wall co-pilot built on public F1 data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" name="Image 0" descr="C:\Users\Administrator\AppData\Local\Temp\claude\C--Users-Administrator-trackshift\536c779f-8f88-4b6c-b773-cf88616f0929\scratchpad\ppt\icons\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6809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lap-time guess isn't a strategy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005840" y="1764792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pit wall doesn’t need to know a lap will be 94.5 seconds.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needs an answer: will this tyre survive to the next pit window?”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9" name="Image 1" descr="C:\Users\Administrator\AppData\Local\Temp\claude\C--Users-Administrator-trackshift\536c779f-8f88-4b6c-b773-cf88616f0929\scratchpad\ppt\icons\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5844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MAE score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389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sudden cliffs — a model can be accurate on average and still miss the drop-off.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297680" y="347472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3" name="Image 2" descr="C:\Users\Administrator\AppData\Local\Temp\claude\C--Users-Administrator-trackshift\536c779f-8f88-4b6c-b773-cf88616f0929\scratchpad\ppt\icons\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58444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9768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tyre sensors are private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297680" y="4389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carcass temperature, pressure and slip live on team servers, never broadcast.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46720" y="347472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7" name="Image 3" descr="C:\Users\Administrator\AppData\Local\Temp\claude\C--Users-Administrator-trackshift\536c779f-8f88-4b6c-b773-cf88616f0929\scratchpad\ppt\icons\wav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35844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046720" y="4023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circuit is different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046720" y="43891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compound wears at a different rate at Monaco than at Silverstone.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TrackShift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" name="Image 0" descr="C:\Users\Administrator\AppData\Local\Temp\claude\C--Users-Administrator-trackshift\536c779f-8f88-4b6c-b773-cf88616f0929\scratchpad\ppt\icons\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6809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ideas that aren't curve-fitting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74520"/>
            <a:ext cx="566928" cy="566928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8" name="Image 1" descr="C:\Users\Administrator\AppData\Local\Temp\claude\C--Users-Administrator-trackshift\536c779f-8f88-4b6c-b773-cf88616f0929\scratchpad\ppt\icons\calc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43" y="201058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265176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Probabilistic, not deterministic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474720"/>
            <a:ext cx="2898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two-state Kalman filter outputs a mean forecast, a 70%/90% uncertainty band, and a calibrated probability of crossing the cliff — not one guessed number.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06824" y="150876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26864" y="1874520"/>
            <a:ext cx="566928" cy="566928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3" name="Image 2" descr="C:\Users\Administrator\AppData\Local\Temp\claude\C--Users-Administrator-trackshift\536c779f-8f88-4b6c-b773-cf88616f0929\scratchpad\ppt\icons\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927" y="201058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26864" y="265176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sensors, transparently labelled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626864" y="3474720"/>
            <a:ext cx="2898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physics-informed proxies (thermal, slip, lateral load…) stand in for the private team CAN-bus data that no one can access — and the code says so.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65008" y="1508760"/>
            <a:ext cx="3538728" cy="4160520"/>
          </a:xfrm>
          <a:prstGeom prst="roundRect">
            <a:avLst>
              <a:gd name="adj" fmla="val 2067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85048" y="1874520"/>
            <a:ext cx="566928" cy="566928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8" name="Image 3" descr="C:\Users\Administrator\AppData\Local\Temp\claude\C--Users-Administrator-trackshift\536c779f-8f88-4b6c-b773-cf88616f0929\scratchpad\ppt\icons\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111" y="201058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85048" y="2651760"/>
            <a:ext cx="2898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is never hidden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85048" y="3474720"/>
            <a:ext cx="2898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is tagged real telemetry, published prior, or reconstructed proxy. Demo mode is always visibly labelled ‘illustrative’.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TrackShift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" name="Image 0" descr="C:\Users\Administrator\AppData\Local\Temp\claude\C--Users-Administrator-trackshift\536c779f-8f88-4b6c-b773-cf88616f0929\scratchpad\ppt\icons\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6809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phases: train once, adapt every weekend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8" name="Image 1" descr="C:\Users\Administrator\AppData\Local\Temp\claude\C--Users-Administrator-trackshift\536c779f-8f88-4b6c-b773-cf88616f0929\scratchpad\ppt\icons\hi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1828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Pre-Race — Training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68680" y="2587752"/>
            <a:ext cx="310896" cy="310896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FD0C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25146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historical FastF1 race laps for every 2025 Grand Prix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68680" y="3364992"/>
            <a:ext cx="310896" cy="310896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FD0C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6868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329184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green-flag filter, and fuel-correct every lap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68680" y="4142232"/>
            <a:ext cx="310896" cy="310896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FD0C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6868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0690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global Kalman priors from robust median slopes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68680" y="4919472"/>
            <a:ext cx="310896" cy="310896"/>
          </a:xfrm>
          <a:prstGeom prst="ellipse">
            <a:avLst/>
          </a:prstGeom>
          <a:solidFill>
            <a:srgbClr val="161B22"/>
          </a:solidFill>
          <a:ln w="15875">
            <a:solidFill>
              <a:srgbClr val="5FD0C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868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1325880" y="484632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reusable state-space model bundle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263640" y="150876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24" name="Image 2" descr="C:\Users\Administrator\AppData\Local\Temp\claude\C--Users-Administrator-trackshift\536c779f-8f88-4b6c-b773-cf88616f0929\scratchpad\ppt\icons\t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81" y="1949501"/>
            <a:ext cx="261518" cy="26151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223760" y="18288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Weekend — Live Usage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6583680" y="2587752"/>
            <a:ext cx="310896" cy="310896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F4B4B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583680" y="2587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7040880" y="25146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FP1→FP3 clean laps arrive as they're driven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6583680" y="3364992"/>
            <a:ext cx="310896" cy="310896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F4B4B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58368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7040880" y="329184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lap sequentially updates the posterior state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6583680" y="4142232"/>
            <a:ext cx="310896" cy="310896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F4B4B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583680" y="4142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29"/>
          <p:cNvSpPr txBox="1"/>
          <p:nvPr/>
        </p:nvSpPr>
        <p:spPr>
          <a:xfrm>
            <a:off x="7040880" y="40690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forecasts pace loss + cliff probability ahead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6583680" y="4919472"/>
            <a:ext cx="310896" cy="310896"/>
          </a:xfrm>
          <a:prstGeom prst="ellipse">
            <a:avLst/>
          </a:prstGeom>
          <a:solidFill>
            <a:srgbClr val="161B22"/>
          </a:solidFill>
          <a:ln w="15875">
            <a:solidFill>
              <a:srgbClr val="FF4B4B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58368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7040880" y="484632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surfaces a pit window recommendation</a:t>
            </a:r>
            <a:endParaRPr lang="en-US" sz="1250" dirty="0"/>
          </a:p>
        </p:txBody>
      </p:sp>
      <p:sp>
        <p:nvSpPr>
          <p:cNvPr id="38" name="Text 33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TrackShift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" name="Image 0" descr="C:\Users\Administrator\AppData\Local\Temp\claude\C--Users-Administrator-trackshift\536c779f-8f88-4b6c-b773-cf88616f0929\scratchpad\ppt\icons\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6809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laps to a clean signal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1D2530"/>
          </a:solidFill>
          <a:ln w="15875">
            <a:solidFill>
              <a:srgbClr val="5FD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green-flag, dry-compound, in-stint laps — drop pit in/out and safety-car laps.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3172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887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300984" y="15087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9584" y="1737360"/>
            <a:ext cx="384048" cy="384048"/>
          </a:xfrm>
          <a:prstGeom prst="ellipse">
            <a:avLst/>
          </a:prstGeom>
          <a:solidFill>
            <a:srgbClr val="1D2530"/>
          </a:solidFill>
          <a:ln w="15875">
            <a:solidFill>
              <a:srgbClr val="5FD0C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2958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529584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Fuel-correct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529584" y="26517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~110kg fuel burn-off effect so cars don't look faster just from getting lighter.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907024" y="233172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887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053328" y="15087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81928" y="1737360"/>
            <a:ext cx="384048" cy="384048"/>
          </a:xfrm>
          <a:prstGeom prst="ellipse">
            <a:avLst/>
          </a:prstGeom>
          <a:solidFill>
            <a:srgbClr val="1D2530"/>
          </a:solidFill>
          <a:ln w="15875">
            <a:solidFill>
              <a:srgbClr val="5FD0C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8192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81928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281928" y="26517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of laps 2–5 sets the ‘fresh tyre’ reference pace for that stint.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8659368" y="233172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7887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805672" y="15087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034272" y="1737360"/>
            <a:ext cx="384048" cy="384048"/>
          </a:xfrm>
          <a:prstGeom prst="ellipse">
            <a:avLst/>
          </a:prstGeom>
          <a:solidFill>
            <a:srgbClr val="1D2530"/>
          </a:solidFill>
          <a:ln w="15875">
            <a:solidFill>
              <a:srgbClr val="5FD0C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3427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034272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Degradation Δ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034272" y="26517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lap becomes clip(lap time − baseline, ≥ 0) — the observed pace-loss signal.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4114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914400" y="4279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CORRECTION FORMULA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" y="4572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Fuel_Corrected_LapTime  =  LapTime  −  Fuel_Weight(kg) × Penalty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" y="5010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Penalty ≈ 0.018 + 0.0015 × downforce + 0.0012 × braking   ·   Fuel_Weight decays linearly, 110kg → 0kg over the race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TrackShift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" name="Image 0" descr="C:\Users\Administrator\AppData\Local\Temp\claude\C--Users-Administrator-trackshift\536c779f-8f88-4b6c-b773-cf88616f0929\scratchpad\ppt\icons\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6809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proxies stand in for private CAN data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38728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8" name="Image 1" descr="C:\Users\Administrator\AppData\Local\Temp\claude\C--Users-Administrator-trackshift\536c779f-8f88-4b6c-b773-cf88616f0929\scratchpad\ppt\icons\ther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185806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16916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Stress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0487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Track-temperature deviation from a 34°C reference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06824" y="1508760"/>
            <a:ext cx="3538728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35424" y="1737360"/>
            <a:ext cx="502920" cy="50292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3" name="Image 2" descr="C:\Users\Administrator\AppData\Local\Temp\claude\C--Users-Administrator-trackshift\536c779f-8f88-4b6c-b773-cf88616f0929\scratchpad\ppt\icons\t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125" y="185806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75504" y="16916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Deviation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4535424" y="240487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drift from a 21.5 psi nominal pressure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65008" y="1508760"/>
            <a:ext cx="3538728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93608" y="1737360"/>
            <a:ext cx="502920" cy="50292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8" name="Image 3" descr="C:\Users\Administrator\AppData\Local\Temp\claude\C--Users-Administrator-trackshift\536c779f-8f88-4b6c-b773-cf88616f0929\scratchpad\ppt\icons\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309" y="1858061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33688" y="169164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Energy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8293608" y="240487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Traction, tyre-stress and abrasion combined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3291840"/>
            <a:ext cx="3538728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23" name="Image 4" descr="C:\Users\Administrator\AppData\Local\Temp\claude\C--Users-Administrator-trackshift\536c779f-8f88-4b6c-b773-cf88616f0929\scratchpad\ppt\icons\compre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3641141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17320" y="34747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Load</a:t>
            </a:r>
            <a:endParaRPr lang="en-US" sz="1450" dirty="0"/>
          </a:p>
        </p:txBody>
      </p:sp>
      <p:sp>
        <p:nvSpPr>
          <p:cNvPr id="25" name="Text 18"/>
          <p:cNvSpPr txBox="1"/>
          <p:nvPr/>
        </p:nvSpPr>
        <p:spPr>
          <a:xfrm>
            <a:off x="777240" y="418795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Cornering-load index from track profile × downforce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306824" y="3291840"/>
            <a:ext cx="3538728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35424" y="3520440"/>
            <a:ext cx="502920" cy="50292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28" name="Image 5" descr="C:\Users\Administrator\AppData\Local\Temp\claude\C--Users-Administrator-trackshift\536c779f-8f88-4b6c-b773-cf88616f0929\scratchpad\ppt\icons\fi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6125" y="3641141"/>
            <a:ext cx="261518" cy="26151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175504" y="34747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 Thermal</a:t>
            </a:r>
            <a:endParaRPr lang="en-US" sz="1450" dirty="0"/>
          </a:p>
        </p:txBody>
      </p:sp>
      <p:sp>
        <p:nvSpPr>
          <p:cNvPr id="30" name="Text 22"/>
          <p:cNvSpPr txBox="1"/>
          <p:nvPr/>
        </p:nvSpPr>
        <p:spPr>
          <a:xfrm>
            <a:off x="4535424" y="418795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Braking-severity index scaled by track heat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065008" y="3291840"/>
            <a:ext cx="3538728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293608" y="3520440"/>
            <a:ext cx="502920" cy="50292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3" name="Image 6" descr="C:\Users\Administrator\AppData\Local\Temp\claude\C--Users-Administrator-trackshift\536c779f-8f88-4b6c-b773-cf88616f0929\scratchpad\ppt\icons\wi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4309" y="3641141"/>
            <a:ext cx="261518" cy="26151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933688" y="34747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 Load</a:t>
            </a:r>
            <a:endParaRPr lang="en-US" sz="1450" dirty="0"/>
          </a:p>
        </p:txBody>
      </p:sp>
      <p:sp>
        <p:nvSpPr>
          <p:cNvPr id="35" name="Text 26"/>
          <p:cNvSpPr txBox="1"/>
          <p:nvPr/>
        </p:nvSpPr>
        <p:spPr>
          <a:xfrm>
            <a:off x="8293608" y="418795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Downforce-driven vertical load on the contact patch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7" name="Image 7" descr="C:\Users\Administrator\AppData\Local\Temp\claude\C--Users-Administrator-trackshift\536c779f-8f88-4b6c-b773-cf88616f0929\scratchpad\ppt\icons\ey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" y="5208422"/>
            <a:ext cx="190195" cy="19019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051560" y="5120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physics-informed proxies built from public track and weather data — not measured sensor values. The dashboard's virtual-sensor panel lets an engineer see and tune every input.</a:t>
            </a:r>
            <a:endParaRPr lang="en-US" sz="1200" dirty="0"/>
          </a:p>
        </p:txBody>
      </p:sp>
      <p:sp>
        <p:nvSpPr>
          <p:cNvPr id="39" name="Text 29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TrackShift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" name="Image 0" descr="C:\Users\Administrator\AppData\Local\Temp\claude\C--Users-Administrator-trackshift\536c779f-8f88-4b6c-b773-cf88616f0929\scratchpad\ppt\icons\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6809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formulas carry the whole model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Latent-State Update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3055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Two-state Kalman filter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" y="2560320"/>
            <a:ext cx="2990088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2560320"/>
            <a:ext cx="2624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 degradation, rate ]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predict:  x' = Fx + w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update:  Joseph-form covariance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160520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clipped to ±2.8σ so one bad lap is never read as a tyre cliff.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06824" y="150876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81144" y="17830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Cliff Probability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81144" y="213055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CDF risk score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81144" y="2560320"/>
            <a:ext cx="2990088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64024" y="2560320"/>
            <a:ext cx="2624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P(cliff) = 1 − Φ( (1.5 − μ) / σ )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581144" y="4160520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point forecast into a decision-ready probability of exceeding the 1.5s cliff threshold.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65008" y="1508760"/>
            <a:ext cx="3538728" cy="3977640"/>
          </a:xfrm>
          <a:prstGeom prst="roundRect">
            <a:avLst>
              <a:gd name="adj" fmla="val 2067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339328" y="17830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Wear-Load Multiplier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339328" y="2130552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of 11 factors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339328" y="2560320"/>
            <a:ext cx="2990088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22208" y="2560320"/>
            <a:ext cx="2624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clip( 0.70 + 0.30 · Σ wᵢ·scoreᵢ, 0.70, 1.55 )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339328" y="4160520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across thermal, pressure, slip, lateral, brake, vertical, camber, toe, differential, brake-bias and aero.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69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Sensor-proxy choices follow Pacejka's slip–load–camber framework (Tire and Vehicle Dynamics). Wear weights are declared priors, nudged conservatively by clean practice-session evidence — never fitted as exact physical constants.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TrackShift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" name="Image 0" descr="C:\Users\Administrator\AppData\Local\Temp\claude\C--Users-Administrator-trackshift\536c779f-8f88-4b6c-b773-cf88616f0929\scratchpad\ppt\icons\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6809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 tiers, honestly labelled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8" name="Image 1" descr="C:\Users\Administrator\AppData\Local\Temp\claude\C--Users-Administrator-trackshift\536c779f-8f88-4b6c-b773-cf88616f0929\scratchpad\ppt\icons\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00200" y="1691640"/>
            <a:ext cx="704088" cy="292608"/>
          </a:xfrm>
          <a:prstGeom prst="roundRect">
            <a:avLst>
              <a:gd name="adj" fmla="val 50000"/>
            </a:avLst>
          </a:prstGeom>
          <a:solidFill>
            <a:srgbClr val="1D2530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600200" y="1691640"/>
            <a:ext cx="704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20391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FastF1 broadcast telemetry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600200" y="233172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times, sectors, weather and telemetry pulled from F1's live-timing feed — the same stream behind official broadcast graphics. Lap and sector times are treated as ground truth.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53512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3319272"/>
            <a:ext cx="548640" cy="54864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5" name="Image 2" descr="C:\Users\Administrator\AppData\Local\Temp\claude\C--Users-Administrator-trackshift\536c779f-8f88-4b6c-b773-cf88616f0929\scratchpad\ppt\icons\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3450946"/>
            <a:ext cx="285293" cy="28529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600200" y="3136392"/>
            <a:ext cx="1760220" cy="292608"/>
          </a:xfrm>
          <a:prstGeom prst="roundRect">
            <a:avLst>
              <a:gd name="adj" fmla="val 50000"/>
            </a:avLst>
          </a:prstGeom>
          <a:solidFill>
            <a:srgbClr val="1D2530"/>
          </a:solidFill>
          <a:ln w="12700">
            <a:solidFill>
              <a:srgbClr val="5FD0C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600200" y="3136392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PRIOR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48386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Pirelli per-circuit stress ratings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3776472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Traction, abrasion, lateral load and evolution scores (1–5) from Pirelli's own circuit engineering ratings — the same briefing shared with every team, not a fan graphic.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398264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764024"/>
            <a:ext cx="548640" cy="54864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22" name="Image 3" descr="C:\Users\Administrator\AppData\Local\Temp\claude\C--Users-Administrator-trackshift\536c779f-8f88-4b6c-b773-cf88616f0929\scratchpad\ppt\icons\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895698"/>
            <a:ext cx="285293" cy="285293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600200" y="4581144"/>
            <a:ext cx="1568196" cy="292608"/>
          </a:xfrm>
          <a:prstGeom prst="roundRect">
            <a:avLst>
              <a:gd name="adj" fmla="val 50000"/>
            </a:avLst>
          </a:prstGeom>
          <a:solidFill>
            <a:srgbClr val="1D2530"/>
          </a:solidFill>
          <a:ln w="12700">
            <a:solidFill>
              <a:srgbClr val="9AA4B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600200" y="4581144"/>
            <a:ext cx="15681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600200" y="492861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sensor proxies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600200" y="5221224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stress, slip energy and pressure deviation approximate private team CAN-bus data — public to no one, clearly reconstructed, never disguised as measured.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88873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always shows a visibly labelled “Illustrative demo” stint — never real data passed off as real.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TrackShift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" name="Image 0" descr="C:\Users\Administrator\AppData\Local\Temp\claude\C--Users-Administrator-trackshift\536c779f-8f88-4b6c-b773-cf88616f0929\scratchpad\ppt\icons\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6809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pit-wall view, not a spreadsheet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OVERVIEW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837944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92938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Stage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945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Grip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88920" y="1837944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926080" y="192938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21945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Pace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1837944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1D2530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166360" y="192938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 Age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166360" y="21945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21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269480" y="1837944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406640" y="192938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Window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21945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19–21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509760" y="1837944"/>
            <a:ext cx="2121408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646920" y="192938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Loss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646920" y="21945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 ± 0.16s</a:t>
            </a:r>
            <a:endParaRPr lang="en-US" sz="1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2926080"/>
          <a:ext cx="6492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9"/>
          <p:cNvSpPr/>
          <p:nvPr/>
        </p:nvSpPr>
        <p:spPr>
          <a:xfrm>
            <a:off x="7269480" y="292608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749808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Weekend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7498080" y="3310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FP1→FP3 laps update the posterior in real time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269480" y="384048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498080" y="3931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498080" y="4224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lap-by-lap replay with track-stress map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269480" y="475488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7498080" y="4846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Post-Race Validation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7498080" y="5138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vs. actual, with 90% band coverage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TrackShift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" name="Image 0" descr="C:\Users\Administrator\AppData\Local\Temp\claude\C--Users-Administrator-trackshift\536c779f-8f88-4b6c-b773-cf88616f0929\scratchpad\ppt\icons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6809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across a full season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673352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8775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Prix covered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06824" y="15087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535424" y="1673352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535424" y="258775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tracked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65008" y="150876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293608" y="1673352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748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293608" y="258775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Stints modelled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42900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3593592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15,949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50799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racing laps analysed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306824" y="342900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535424" y="3593592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FD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0.33s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4535424" y="450799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Laps-weighted forecast MAE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065008" y="3429000"/>
            <a:ext cx="3538728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293608" y="3593592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8293608" y="450799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Stints reaching a detected cliff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577840"/>
            <a:ext cx="365760" cy="36576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25" name="Image 1" descr="C:\Users\Administrator\AppData\Local\Temp\claude\C--Users-Administrator-trackshift\536c779f-8f88-4b6c-b773-cf88616f0929\scratchpad\ppt\icons\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" y="5665622"/>
            <a:ext cx="190195" cy="19019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051560" y="5577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above comes straight from the pipeline's own output files — no cherry-picking, nothing invented for the slide.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TrackShift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3" name="Image 0" descr="C:\Users\Administrator\AppData\Local\Temp\claude\C--Users-Administrator-trackshift\536c779f-8f88-4b6c-b773-cf88616f0929\scratchpad\ppt\icons\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CHOICES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6809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pit wall, not a training cluster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874520"/>
            <a:ext cx="594360" cy="59436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8" name="Image 1" descr="C:\Users\Administrator\AppData\Local\Temp\claude\C--Users-Administrator-trackshift\536c779f-8f88-4b6c-b773-cf88616f0929\scratchpad\ppt\icons\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2017166"/>
            <a:ext cx="309067" cy="30906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74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GPU — by design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288036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online model is a 2×2 Kalman filter in NumPy. There is no matrix large enough for a GPU to accelerate, and the transfer overhead would make it slower, not faster.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14400" y="43891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43000" y="43891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pit wall needs sub-second updates on a laptop — not a training cluster.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17920" y="150876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0" y="1874520"/>
            <a:ext cx="594360" cy="59436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15" name="Image 2" descr="C:\Users\Administrator\AppData\Local\Temp\claude\C--Users-Administrator-trackshift\536c779f-8f88-4b6c-b773-cf88616f0929\scratchpad\ppt\icons\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326" y="201716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60920" y="1874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Interpretable over black-box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583680" y="288036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experiments explored ensemble and neural approaches to degradation. We moved to a state-space model an engineer can audit lap by lap.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583680" y="43891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161B22"/>
          </a:solidFill>
          <a:ln w="12700">
            <a:solidFill>
              <a:srgbClr val="5FD0C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12280" y="43891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traces to a formula — nothing is hidden in a learned layer.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TrackShift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strator\AppData\Local\Temp\claude\C--Users-Administrator-trackshift\536c779f-8f88-4b6c-b773-cf88616f0929\scratchpad\ppt\icons\tyre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8138160" y="1463040"/>
            <a:ext cx="420624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</p:spPr>
      </p:sp>
      <p:pic>
        <p:nvPicPr>
          <p:cNvPr id="4" name="Image 1" descr="C:\Users\Administrator\AppData\Local\Temp\claude\C--Users-Administrator-trackshift\536c779f-8f88-4b6c-b773-cf88616f0929\scratchpad\ppt\icons\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237744" cy="2377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170432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published work, not guesswork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94360" y="1682496"/>
            <a:ext cx="82296" cy="82296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68680" y="16002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Pacejka, H. B. — Tire and Vehicle Dynamics. Physical reference for how slip, load and camber shape the contact patch and heat generation; grounds the choice of thermal/slip/lateral sensor proxies.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94360" y="2459736"/>
            <a:ext cx="82296" cy="82296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68680" y="23774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Farroni et al. — TRICK tyre/road thermal and wear modelling. A relevant secondary reference for the thermal-wear layer.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94360" y="3236976"/>
            <a:ext cx="82296" cy="82296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68680" y="31546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FastF1 (unofficial client) — pulls real lap, sector, weather and telemetry data from F1's live-timing feed.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" y="4014216"/>
            <a:ext cx="82296" cy="82296"/>
          </a:xfrm>
          <a:prstGeom prst="ellipse">
            <a:avLst/>
          </a:prstGeom>
          <a:solidFill>
            <a:srgbClr val="5FD0C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68680" y="39319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Pirelli — published per-circuit engineering stress ratings (traction, abrasion, lateral load, evolution), the same briefing shared with every team.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41605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D2530"/>
          </a:solidFill>
          <a:ln w="12700">
            <a:solidFill>
              <a:srgbClr val="2A31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32104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black box.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8321040" y="4800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F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risk-aware co-pilot for the pit wall.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5623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528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TrackShift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TrackShift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TrackShift</dc:creator>
  <cp:lastModifiedBy>TrackShift</cp:lastModifiedBy>
  <cp:revision>1</cp:revision>
  <dcterms:created xsi:type="dcterms:W3CDTF">2026-09-13T03:50:40Z</dcterms:created>
  <dcterms:modified xsi:type="dcterms:W3CDTF">2026-09-13T03:50:40Z</dcterms:modified>
</cp:coreProperties>
</file>